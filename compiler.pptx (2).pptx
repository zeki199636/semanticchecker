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1/5/2026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864A-8CE6-B371-CFF8-6A87984B5F8E}"/>
              </a:ext>
            </a:extLst>
          </p:cNvPr>
          <p:cNvSpPr>
            <a:spLocks noGrp="1"/>
          </p:cNvSpPr>
          <p:nvPr>
            <p:ph type="ctrTitle"/>
          </p:nvPr>
        </p:nvSpPr>
        <p:spPr/>
        <p:txBody>
          <a:bodyPr/>
          <a:lstStyle/>
          <a:p>
            <a:r>
              <a:rPr lang="en-US" dirty="0"/>
              <a:t>Main Phases of a Compiler</a:t>
            </a:r>
          </a:p>
        </p:txBody>
      </p:sp>
      <p:sp>
        <p:nvSpPr>
          <p:cNvPr id="3" name="Subtitle 2">
            <a:extLst>
              <a:ext uri="{FF2B5EF4-FFF2-40B4-BE49-F238E27FC236}">
                <a16:creationId xmlns:a16="http://schemas.microsoft.com/office/drawing/2014/main" id="{02BA79FD-C608-550C-FEE1-A67462217B53}"/>
              </a:ext>
            </a:extLst>
          </p:cNvPr>
          <p:cNvSpPr>
            <a:spLocks noGrp="1"/>
          </p:cNvSpPr>
          <p:nvPr>
            <p:ph type="subTitle" idx="1"/>
          </p:nvPr>
        </p:nvSpPr>
        <p:spPr/>
        <p:txBody>
          <a:bodyPr/>
          <a:lstStyle/>
          <a:p>
            <a:r>
              <a:rPr lang="en-US" dirty="0"/>
              <a:t>Compiler Design | Computer Science</a:t>
            </a:r>
          </a:p>
          <a:p>
            <a:r>
              <a:rPr lang="en-US" dirty="0"/>
              <a:t>Zekarias Teshale</a:t>
            </a:r>
          </a:p>
        </p:txBody>
      </p:sp>
    </p:spTree>
    <p:extLst>
      <p:ext uri="{BB962C8B-B14F-4D97-AF65-F5344CB8AC3E}">
        <p14:creationId xmlns:p14="http://schemas.microsoft.com/office/powerpoint/2010/main" val="139915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4264-3A22-D5F8-DE60-BD4439ECE87F}"/>
              </a:ext>
            </a:extLst>
          </p:cNvPr>
          <p:cNvSpPr>
            <a:spLocks noGrp="1"/>
          </p:cNvSpPr>
          <p:nvPr>
            <p:ph type="title"/>
          </p:nvPr>
        </p:nvSpPr>
        <p:spPr>
          <a:xfrm>
            <a:off x="303609" y="1123836"/>
            <a:ext cx="2896791" cy="4601183"/>
          </a:xfrm>
        </p:spPr>
        <p:txBody>
          <a:bodyPr/>
          <a:lstStyle/>
          <a:p>
            <a:r>
              <a:rPr lang="en-US" dirty="0"/>
              <a:t>Introduction</a:t>
            </a:r>
          </a:p>
        </p:txBody>
      </p:sp>
      <p:sp>
        <p:nvSpPr>
          <p:cNvPr id="3" name="Content Placeholder 2">
            <a:extLst>
              <a:ext uri="{FF2B5EF4-FFF2-40B4-BE49-F238E27FC236}">
                <a16:creationId xmlns:a16="http://schemas.microsoft.com/office/drawing/2014/main" id="{17068F3F-2932-E7DB-6641-1DE8A58B36C4}"/>
              </a:ext>
            </a:extLst>
          </p:cNvPr>
          <p:cNvSpPr>
            <a:spLocks noGrp="1"/>
          </p:cNvSpPr>
          <p:nvPr>
            <p:ph idx="1"/>
          </p:nvPr>
        </p:nvSpPr>
        <p:spPr/>
        <p:txBody>
          <a:bodyPr/>
          <a:lstStyle/>
          <a:p>
            <a:r>
              <a:rPr lang="en-US" dirty="0"/>
              <a:t>A compiler is a software program that translates source code from a high-level programming language (such as C, Java, or Python) into machine code or an executable form understandable by the computer’s processor</a:t>
            </a:r>
          </a:p>
        </p:txBody>
      </p:sp>
    </p:spTree>
    <p:extLst>
      <p:ext uri="{BB962C8B-B14F-4D97-AF65-F5344CB8AC3E}">
        <p14:creationId xmlns:p14="http://schemas.microsoft.com/office/powerpoint/2010/main" val="4085895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C28C-D541-620F-3718-6F4603D7E975}"/>
              </a:ext>
            </a:extLst>
          </p:cNvPr>
          <p:cNvSpPr>
            <a:spLocks noGrp="1"/>
          </p:cNvSpPr>
          <p:nvPr>
            <p:ph type="title"/>
          </p:nvPr>
        </p:nvSpPr>
        <p:spPr/>
        <p:txBody>
          <a:bodyPr/>
          <a:lstStyle/>
          <a:p>
            <a:r>
              <a:rPr lang="en-US" dirty="0"/>
              <a:t>Compiler Overview</a:t>
            </a:r>
          </a:p>
        </p:txBody>
      </p:sp>
      <p:sp>
        <p:nvSpPr>
          <p:cNvPr id="3" name="Content Placeholder 2">
            <a:extLst>
              <a:ext uri="{FF2B5EF4-FFF2-40B4-BE49-F238E27FC236}">
                <a16:creationId xmlns:a16="http://schemas.microsoft.com/office/drawing/2014/main" id="{03FEACBC-2951-8C44-FA02-981809A11C02}"/>
              </a:ext>
            </a:extLst>
          </p:cNvPr>
          <p:cNvSpPr>
            <a:spLocks noGrp="1"/>
          </p:cNvSpPr>
          <p:nvPr>
            <p:ph idx="1"/>
          </p:nvPr>
        </p:nvSpPr>
        <p:spPr/>
        <p:txBody>
          <a:bodyPr/>
          <a:lstStyle/>
          <a:p>
            <a:r>
              <a:rPr lang="en-US" dirty="0"/>
              <a:t>A compiler works in a sequence of phases, where each phase transforms the program into another form, gradually lowering the level of abstraction until machine code is generated. </a:t>
            </a:r>
          </a:p>
        </p:txBody>
      </p:sp>
    </p:spTree>
    <p:extLst>
      <p:ext uri="{BB962C8B-B14F-4D97-AF65-F5344CB8AC3E}">
        <p14:creationId xmlns:p14="http://schemas.microsoft.com/office/powerpoint/2010/main" val="2362051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02E3C-2167-636B-8F62-0D9A288B8E05}"/>
              </a:ext>
            </a:extLst>
          </p:cNvPr>
          <p:cNvSpPr>
            <a:spLocks noGrp="1"/>
          </p:cNvSpPr>
          <p:nvPr>
            <p:ph type="title"/>
          </p:nvPr>
        </p:nvSpPr>
        <p:spPr/>
        <p:txBody>
          <a:bodyPr/>
          <a:lstStyle/>
          <a:p>
            <a:r>
              <a:rPr lang="en-US" dirty="0"/>
              <a:t>Diagram </a:t>
            </a:r>
          </a:p>
        </p:txBody>
      </p:sp>
      <p:pic>
        <p:nvPicPr>
          <p:cNvPr id="4" name="Content Placeholder 3">
            <a:extLst>
              <a:ext uri="{FF2B5EF4-FFF2-40B4-BE49-F238E27FC236}">
                <a16:creationId xmlns:a16="http://schemas.microsoft.com/office/drawing/2014/main" id="{46CF92FD-E47C-FBAC-A1E7-1810A23DA762}"/>
              </a:ext>
            </a:extLst>
          </p:cNvPr>
          <p:cNvPicPr>
            <a:picLocks noGrp="1" noChangeAspect="1"/>
          </p:cNvPicPr>
          <p:nvPr>
            <p:ph idx="1"/>
          </p:nvPr>
        </p:nvPicPr>
        <p:blipFill>
          <a:blip r:embed="rId2"/>
          <a:stretch>
            <a:fillRect/>
          </a:stretch>
        </p:blipFill>
        <p:spPr>
          <a:xfrm>
            <a:off x="4383088" y="1176337"/>
            <a:ext cx="6286500" cy="4495800"/>
          </a:xfrm>
          <a:prstGeom prst="rect">
            <a:avLst/>
          </a:prstGeom>
        </p:spPr>
      </p:pic>
    </p:spTree>
    <p:extLst>
      <p:ext uri="{BB962C8B-B14F-4D97-AF65-F5344CB8AC3E}">
        <p14:creationId xmlns:p14="http://schemas.microsoft.com/office/powerpoint/2010/main" val="1356613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4988D-D4B1-00F2-752E-54A3E770A013}"/>
              </a:ext>
            </a:extLst>
          </p:cNvPr>
          <p:cNvSpPr>
            <a:spLocks noGrp="1"/>
          </p:cNvSpPr>
          <p:nvPr>
            <p:ph type="title"/>
          </p:nvPr>
        </p:nvSpPr>
        <p:spPr>
          <a:xfrm>
            <a:off x="252919" y="1123837"/>
            <a:ext cx="2947482" cy="4198257"/>
          </a:xfrm>
        </p:spPr>
        <p:txBody>
          <a:bodyPr/>
          <a:lstStyle/>
          <a:p>
            <a:r>
              <a:rPr lang="en-US" dirty="0"/>
              <a:t>1.Lexical Analysis (Scanning)</a:t>
            </a:r>
          </a:p>
        </p:txBody>
      </p:sp>
      <p:sp>
        <p:nvSpPr>
          <p:cNvPr id="3" name="Content Placeholder 2">
            <a:extLst>
              <a:ext uri="{FF2B5EF4-FFF2-40B4-BE49-F238E27FC236}">
                <a16:creationId xmlns:a16="http://schemas.microsoft.com/office/drawing/2014/main" id="{FC57EBEF-63DC-6985-7DF5-BC1CB8759D19}"/>
              </a:ext>
            </a:extLst>
          </p:cNvPr>
          <p:cNvSpPr>
            <a:spLocks noGrp="1"/>
          </p:cNvSpPr>
          <p:nvPr>
            <p:ph idx="1"/>
          </p:nvPr>
        </p:nvSpPr>
        <p:spPr/>
        <p:txBody>
          <a:bodyPr/>
          <a:lstStyle/>
          <a:p>
            <a:r>
              <a:rPr lang="en-US" dirty="0"/>
              <a:t>The first phase where the compiler reads raw source code and groups characters into meaningful tokens (identifiers, keywords, literals, operators). 
</a:t>
            </a:r>
            <a:r>
              <a:rPr lang="en-US" b="1" dirty="0"/>
              <a:t>Purpose</a:t>
            </a:r>
            <a:r>
              <a:rPr lang="en-US" dirty="0"/>
              <a:t>:
Remove whitespace and comments
Produce a stream of tokens for syntax analysis.
Example: For int x = 10; → tokens: int, x, =, 10, ;. �</a:t>
            </a:r>
          </a:p>
        </p:txBody>
      </p:sp>
    </p:spTree>
    <p:extLst>
      <p:ext uri="{BB962C8B-B14F-4D97-AF65-F5344CB8AC3E}">
        <p14:creationId xmlns:p14="http://schemas.microsoft.com/office/powerpoint/2010/main" val="959227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D1CAA-5092-A7EC-C41B-70745A854274}"/>
              </a:ext>
            </a:extLst>
          </p:cNvPr>
          <p:cNvSpPr>
            <a:spLocks noGrp="1"/>
          </p:cNvSpPr>
          <p:nvPr>
            <p:ph type="title"/>
          </p:nvPr>
        </p:nvSpPr>
        <p:spPr/>
        <p:txBody>
          <a:bodyPr/>
          <a:lstStyle/>
          <a:p>
            <a:r>
              <a:rPr lang="en-US" dirty="0"/>
              <a:t>2. Syntax Analysis (Parsing)</a:t>
            </a:r>
          </a:p>
        </p:txBody>
      </p:sp>
      <p:sp>
        <p:nvSpPr>
          <p:cNvPr id="3" name="Content Placeholder 2">
            <a:extLst>
              <a:ext uri="{FF2B5EF4-FFF2-40B4-BE49-F238E27FC236}">
                <a16:creationId xmlns:a16="http://schemas.microsoft.com/office/drawing/2014/main" id="{7F0D459F-9CCB-A2BE-6540-35D019CD7B0B}"/>
              </a:ext>
            </a:extLst>
          </p:cNvPr>
          <p:cNvSpPr>
            <a:spLocks noGrp="1"/>
          </p:cNvSpPr>
          <p:nvPr>
            <p:ph idx="1"/>
          </p:nvPr>
        </p:nvSpPr>
        <p:spPr/>
        <p:txBody>
          <a:bodyPr/>
          <a:lstStyle/>
          <a:p>
            <a:r>
              <a:rPr lang="en-US" dirty="0"/>
              <a:t>Parses the token sequence according to the grammar of the language and builds a parse tree or abstract syntax tree (AST). 
</a:t>
            </a:r>
            <a:r>
              <a:rPr lang="en-US" b="1" dirty="0"/>
              <a:t>Purpose</a:t>
            </a:r>
            <a:r>
              <a:rPr lang="en-US" dirty="0"/>
              <a:t>:
Check grammatical correctness
Represent the program’s hierarchical structure
Example:
A = B + C; → parse tree showing = at root with subtrees for operands. </a:t>
            </a:r>
          </a:p>
        </p:txBody>
      </p:sp>
    </p:spTree>
    <p:extLst>
      <p:ext uri="{BB962C8B-B14F-4D97-AF65-F5344CB8AC3E}">
        <p14:creationId xmlns:p14="http://schemas.microsoft.com/office/powerpoint/2010/main" val="101913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9DB2B-FA42-ADF5-5982-0E579D9B7A12}"/>
              </a:ext>
            </a:extLst>
          </p:cNvPr>
          <p:cNvSpPr>
            <a:spLocks noGrp="1"/>
          </p:cNvSpPr>
          <p:nvPr>
            <p:ph type="title"/>
          </p:nvPr>
        </p:nvSpPr>
        <p:spPr/>
        <p:txBody>
          <a:bodyPr/>
          <a:lstStyle/>
          <a:p>
            <a:r>
              <a:rPr lang="en-US" dirty="0"/>
              <a:t>3. Semantic Analysis</a:t>
            </a:r>
          </a:p>
        </p:txBody>
      </p:sp>
      <p:sp>
        <p:nvSpPr>
          <p:cNvPr id="3" name="Content Placeholder 2">
            <a:extLst>
              <a:ext uri="{FF2B5EF4-FFF2-40B4-BE49-F238E27FC236}">
                <a16:creationId xmlns:a16="http://schemas.microsoft.com/office/drawing/2014/main" id="{8E61F1F4-25BE-758C-6693-3F8B8C549608}"/>
              </a:ext>
            </a:extLst>
          </p:cNvPr>
          <p:cNvSpPr>
            <a:spLocks noGrp="1"/>
          </p:cNvSpPr>
          <p:nvPr>
            <p:ph idx="1"/>
          </p:nvPr>
        </p:nvSpPr>
        <p:spPr/>
        <p:txBody>
          <a:bodyPr/>
          <a:lstStyle/>
          <a:p>
            <a:r>
              <a:rPr lang="en-US" dirty="0"/>
              <a:t>Ensures that the parse tree makes logical sense in the language (type checking, correct use of identifiers, scope rules). 
</a:t>
            </a:r>
            <a:r>
              <a:rPr lang="en-US" b="1" dirty="0"/>
              <a:t>Purpose</a:t>
            </a:r>
            <a:r>
              <a:rPr lang="en-US" dirty="0"/>
              <a:t>:
Detect type mismatches
Ensure variables are declared before use
Example:
Adding an integer to a string without conversion → semantic error. </a:t>
            </a:r>
          </a:p>
        </p:txBody>
      </p:sp>
    </p:spTree>
    <p:extLst>
      <p:ext uri="{BB962C8B-B14F-4D97-AF65-F5344CB8AC3E}">
        <p14:creationId xmlns:p14="http://schemas.microsoft.com/office/powerpoint/2010/main" val="3595466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4CB34-880B-AA27-658F-04E9F9F2D560}"/>
              </a:ext>
            </a:extLst>
          </p:cNvPr>
          <p:cNvSpPr>
            <a:spLocks noGrp="1"/>
          </p:cNvSpPr>
          <p:nvPr>
            <p:ph type="title"/>
          </p:nvPr>
        </p:nvSpPr>
        <p:spPr/>
        <p:txBody>
          <a:bodyPr/>
          <a:lstStyle/>
          <a:p>
            <a:r>
              <a:rPr lang="en-US" dirty="0"/>
              <a:t>4. Intermediate Code Generation</a:t>
            </a:r>
          </a:p>
        </p:txBody>
      </p:sp>
      <p:sp>
        <p:nvSpPr>
          <p:cNvPr id="3" name="Content Placeholder 2">
            <a:extLst>
              <a:ext uri="{FF2B5EF4-FFF2-40B4-BE49-F238E27FC236}">
                <a16:creationId xmlns:a16="http://schemas.microsoft.com/office/drawing/2014/main" id="{564D893D-2C49-13EA-0A8A-8AA2DE23AA80}"/>
              </a:ext>
            </a:extLst>
          </p:cNvPr>
          <p:cNvSpPr>
            <a:spLocks noGrp="1"/>
          </p:cNvSpPr>
          <p:nvPr>
            <p:ph idx="1"/>
          </p:nvPr>
        </p:nvSpPr>
        <p:spPr/>
        <p:txBody>
          <a:bodyPr/>
          <a:lstStyle/>
          <a:p>
            <a:r>
              <a:rPr lang="en-US" dirty="0"/>
              <a:t>Transforms the syntax tree into an intermediate representation (IR), usually machine-independent, to simplify optimization. 
</a:t>
            </a:r>
            <a:r>
              <a:rPr lang="en-US" b="1" dirty="0"/>
              <a:t>Purpose</a:t>
            </a:r>
            <a:r>
              <a:rPr lang="en-US" dirty="0"/>
              <a:t>:
Decouples front-end and back-end processing
IR is easier to optimize and target various architectures.
Example:
Three-address code:
t1 = B * C  
t2 = A + t1</a:t>
            </a:r>
          </a:p>
        </p:txBody>
      </p:sp>
    </p:spTree>
    <p:extLst>
      <p:ext uri="{BB962C8B-B14F-4D97-AF65-F5344CB8AC3E}">
        <p14:creationId xmlns:p14="http://schemas.microsoft.com/office/powerpoint/2010/main" val="4223984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07D1-6C10-A5E9-612D-9A8D7EC8D5C2}"/>
              </a:ext>
            </a:extLst>
          </p:cNvPr>
          <p:cNvSpPr>
            <a:spLocks noGrp="1"/>
          </p:cNvSpPr>
          <p:nvPr>
            <p:ph type="title"/>
          </p:nvPr>
        </p:nvSpPr>
        <p:spPr/>
        <p:txBody>
          <a:bodyPr/>
          <a:lstStyle/>
          <a:p>
            <a:r>
              <a:rPr lang="en-US" dirty="0"/>
              <a:t>Code Optimization</a:t>
            </a:r>
          </a:p>
        </p:txBody>
      </p:sp>
      <p:sp>
        <p:nvSpPr>
          <p:cNvPr id="3" name="Content Placeholder 2">
            <a:extLst>
              <a:ext uri="{FF2B5EF4-FFF2-40B4-BE49-F238E27FC236}">
                <a16:creationId xmlns:a16="http://schemas.microsoft.com/office/drawing/2014/main" id="{1E2E03CF-F917-28CF-E696-F36D47FBF5AA}"/>
              </a:ext>
            </a:extLst>
          </p:cNvPr>
          <p:cNvSpPr>
            <a:spLocks noGrp="1"/>
          </p:cNvSpPr>
          <p:nvPr>
            <p:ph idx="1"/>
          </p:nvPr>
        </p:nvSpPr>
        <p:spPr/>
        <p:txBody>
          <a:bodyPr/>
          <a:lstStyle/>
          <a:p>
            <a:r>
              <a:rPr lang="en-US" dirty="0"/>
              <a:t>Improves the IR to make the generated code faster or smaller without changing its meaning. 
</a:t>
            </a:r>
            <a:r>
              <a:rPr lang="en-US" b="1" dirty="0"/>
              <a:t>Techniques</a:t>
            </a:r>
            <a:r>
              <a:rPr lang="en-US" dirty="0"/>
              <a:t>:
Dead code elimination
Constant folding
Loop optimization
</a:t>
            </a:r>
            <a:r>
              <a:rPr lang="en-US" b="1" dirty="0"/>
              <a:t>Practical Benefit</a:t>
            </a:r>
            <a:r>
              <a:rPr lang="en-US" dirty="0"/>
              <a:t>:
Optimized code runs faster and uses less memory, crucial for performance-critical systems. </a:t>
            </a:r>
          </a:p>
        </p:txBody>
      </p:sp>
    </p:spTree>
    <p:extLst>
      <p:ext uri="{BB962C8B-B14F-4D97-AF65-F5344CB8AC3E}">
        <p14:creationId xmlns:p14="http://schemas.microsoft.com/office/powerpoint/2010/main" val="150040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5A83-2157-C873-A588-6B7C7729E7EE}"/>
              </a:ext>
            </a:extLst>
          </p:cNvPr>
          <p:cNvSpPr>
            <a:spLocks noGrp="1"/>
          </p:cNvSpPr>
          <p:nvPr>
            <p:ph type="title"/>
          </p:nvPr>
        </p:nvSpPr>
        <p:spPr/>
        <p:txBody>
          <a:bodyPr/>
          <a:lstStyle/>
          <a:p>
            <a:r>
              <a:rPr lang="en-US" dirty="0"/>
              <a:t>6. Code Generation</a:t>
            </a:r>
          </a:p>
        </p:txBody>
      </p:sp>
      <p:sp>
        <p:nvSpPr>
          <p:cNvPr id="3" name="Content Placeholder 2">
            <a:extLst>
              <a:ext uri="{FF2B5EF4-FFF2-40B4-BE49-F238E27FC236}">
                <a16:creationId xmlns:a16="http://schemas.microsoft.com/office/drawing/2014/main" id="{08946129-429D-EA18-B1EE-62DFEB5CC7BA}"/>
              </a:ext>
            </a:extLst>
          </p:cNvPr>
          <p:cNvSpPr>
            <a:spLocks noGrp="1"/>
          </p:cNvSpPr>
          <p:nvPr>
            <p:ph idx="1"/>
          </p:nvPr>
        </p:nvSpPr>
        <p:spPr/>
        <p:txBody>
          <a:bodyPr/>
          <a:lstStyle/>
          <a:p>
            <a:r>
              <a:rPr lang="en-US" dirty="0"/>
              <a:t>Final phase that converts optimized IR into machine code or assembly instructions for a specific target processor.</a:t>
            </a:r>
          </a:p>
          <a:p>
            <a:r>
              <a:rPr lang="en-US" b="1" dirty="0"/>
              <a:t>Tasks</a:t>
            </a:r>
            <a:r>
              <a:rPr lang="en-US" dirty="0"/>
              <a:t>:
Register allocation
Instruction selection
Address calculation</a:t>
            </a:r>
          </a:p>
          <a:p>
            <a:pPr marL="0" indent="0">
              <a:buNone/>
            </a:pPr>
            <a:r>
              <a:rPr lang="en-US" dirty="0"/>
              <a:t>Example: The IR for a simple arithmetic expression is translated into equivalent assembly code. </a:t>
            </a:r>
          </a:p>
        </p:txBody>
      </p:sp>
    </p:spTree>
    <p:extLst>
      <p:ext uri="{BB962C8B-B14F-4D97-AF65-F5344CB8AC3E}">
        <p14:creationId xmlns:p14="http://schemas.microsoft.com/office/powerpoint/2010/main" val="1991648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CEE2A-39D5-7A0B-5B5A-3F731BF623E5}"/>
              </a:ext>
            </a:extLst>
          </p:cNvPr>
          <p:cNvSpPr>
            <a:spLocks noGrp="1"/>
          </p:cNvSpPr>
          <p:nvPr>
            <p:ph type="title"/>
          </p:nvPr>
        </p:nvSpPr>
        <p:spPr/>
        <p:txBody>
          <a:bodyPr/>
          <a:lstStyle/>
          <a:p>
            <a:r>
              <a:rPr lang="en-US" dirty="0"/>
              <a:t>Compilation Workflow </a:t>
            </a:r>
          </a:p>
        </p:txBody>
      </p:sp>
      <p:sp>
        <p:nvSpPr>
          <p:cNvPr id="3" name="Content Placeholder 2">
            <a:extLst>
              <a:ext uri="{FF2B5EF4-FFF2-40B4-BE49-F238E27FC236}">
                <a16:creationId xmlns:a16="http://schemas.microsoft.com/office/drawing/2014/main" id="{91B328C7-FC92-98DA-513F-1BDC1554E854}"/>
              </a:ext>
            </a:extLst>
          </p:cNvPr>
          <p:cNvSpPr>
            <a:spLocks noGrp="1"/>
          </p:cNvSpPr>
          <p:nvPr>
            <p:ph idx="1"/>
          </p:nvPr>
        </p:nvSpPr>
        <p:spPr/>
        <p:txBody>
          <a:bodyPr/>
          <a:lstStyle/>
          <a:p>
            <a:pPr marL="457200" indent="-457200">
              <a:buFont typeface="+mj-lt"/>
              <a:buAutoNum type="arabicPeriod"/>
            </a:pPr>
            <a:r>
              <a:rPr lang="en-US" dirty="0"/>
              <a:t>Process:
Source code in C → Lexical Analyzer → Tokens
Tokens → Parser → AST
AST → Semantic phase → annotated tree
Annotated tree → IR generation
Optimize IR → reduces execution cost
Code Generation → produces machine code ready to execute</a:t>
            </a:r>
          </a:p>
        </p:txBody>
      </p:sp>
    </p:spTree>
    <p:extLst>
      <p:ext uri="{BB962C8B-B14F-4D97-AF65-F5344CB8AC3E}">
        <p14:creationId xmlns:p14="http://schemas.microsoft.com/office/powerpoint/2010/main" val="2615014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29565-B9EA-3ABD-8863-E3B76E17D266}"/>
              </a:ext>
            </a:extLst>
          </p:cNvPr>
          <p:cNvSpPr>
            <a:spLocks noGrp="1"/>
          </p:cNvSpPr>
          <p:nvPr>
            <p:ph type="title"/>
          </p:nvPr>
        </p:nvSpPr>
        <p:spPr/>
        <p:txBody>
          <a:bodyPr/>
          <a:lstStyle/>
          <a:p>
            <a:r>
              <a:rPr lang="en-US" dirty="0"/>
              <a:t>Realife applications</a:t>
            </a:r>
          </a:p>
        </p:txBody>
      </p:sp>
      <p:sp>
        <p:nvSpPr>
          <p:cNvPr id="3" name="Content Placeholder 2">
            <a:extLst>
              <a:ext uri="{FF2B5EF4-FFF2-40B4-BE49-F238E27FC236}">
                <a16:creationId xmlns:a16="http://schemas.microsoft.com/office/drawing/2014/main" id="{72BCF131-9E95-6DB0-2345-BF6FF3641B6F}"/>
              </a:ext>
            </a:extLst>
          </p:cNvPr>
          <p:cNvSpPr>
            <a:spLocks noGrp="1"/>
          </p:cNvSpPr>
          <p:nvPr>
            <p:ph idx="1"/>
          </p:nvPr>
        </p:nvSpPr>
        <p:spPr/>
        <p:txBody>
          <a:bodyPr/>
          <a:lstStyle/>
          <a:p>
            <a:r>
              <a:rPr lang="en-US" dirty="0"/>
              <a:t>Software development (C, C++, Java, Python programs)
Mobile application development (Android, iOS)
Web browsers and JavaScript engines
Operating systems and device drivers
Game development and game engines
Embedded systems and </a:t>
            </a:r>
            <a:r>
              <a:rPr lang="en-US" dirty="0" err="1"/>
              <a:t>IoT</a:t>
            </a:r>
            <a:r>
              <a:rPr lang="en-US" dirty="0"/>
              <a:t> devices</a:t>
            </a:r>
          </a:p>
        </p:txBody>
      </p:sp>
    </p:spTree>
    <p:extLst>
      <p:ext uri="{BB962C8B-B14F-4D97-AF65-F5344CB8AC3E}">
        <p14:creationId xmlns:p14="http://schemas.microsoft.com/office/powerpoint/2010/main" val="2515992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BCE9-1B94-962B-FB35-CAB180B3D6C8}"/>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29CA7C66-7475-F01F-D6DA-316B9229BFA1}"/>
              </a:ext>
            </a:extLst>
          </p:cNvPr>
          <p:cNvSpPr>
            <a:spLocks noGrp="1"/>
          </p:cNvSpPr>
          <p:nvPr>
            <p:ph idx="1"/>
          </p:nvPr>
        </p:nvSpPr>
        <p:spPr/>
        <p:txBody>
          <a:bodyPr/>
          <a:lstStyle/>
          <a:p>
            <a:r>
              <a:rPr lang="en-US" dirty="0"/>
              <a:t>A compiler has distinct phases, each transforming the program to a lower level. 
From lexical analysis to code generation and optimization, each phase adds structure, correctness, and efficiency. 
Understanding these phases is essential for diagnosing compilation errors, improving performance, and building new languages.</a:t>
            </a:r>
          </a:p>
        </p:txBody>
      </p:sp>
    </p:spTree>
    <p:extLst>
      <p:ext uri="{BB962C8B-B14F-4D97-AF65-F5344CB8AC3E}">
        <p14:creationId xmlns:p14="http://schemas.microsoft.com/office/powerpoint/2010/main" val="3341919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7387-126B-D915-5868-6C21C1B7B5E0}"/>
              </a:ext>
            </a:extLst>
          </p:cNvPr>
          <p:cNvSpPr>
            <a:spLocks noGrp="1"/>
          </p:cNvSpPr>
          <p:nvPr>
            <p:ph type="title"/>
          </p:nvPr>
        </p:nvSpPr>
        <p:spPr/>
        <p:txBody>
          <a:bodyPr/>
          <a:lstStyle/>
          <a:p>
            <a:r>
              <a:rPr lang="en-US" dirty="0"/>
              <a:t>References </a:t>
            </a:r>
          </a:p>
        </p:txBody>
      </p:sp>
      <p:sp>
        <p:nvSpPr>
          <p:cNvPr id="3" name="Content Placeholder 2">
            <a:extLst>
              <a:ext uri="{FF2B5EF4-FFF2-40B4-BE49-F238E27FC236}">
                <a16:creationId xmlns:a16="http://schemas.microsoft.com/office/drawing/2014/main" id="{698A8E70-67C9-F756-7227-C7CF3502DE43}"/>
              </a:ext>
            </a:extLst>
          </p:cNvPr>
          <p:cNvSpPr>
            <a:spLocks noGrp="1"/>
          </p:cNvSpPr>
          <p:nvPr>
            <p:ph idx="1"/>
          </p:nvPr>
        </p:nvSpPr>
        <p:spPr>
          <a:xfrm>
            <a:off x="3762112" y="604380"/>
            <a:ext cx="7315200" cy="5120640"/>
          </a:xfrm>
        </p:spPr>
        <p:txBody>
          <a:bodyPr/>
          <a:lstStyle/>
          <a:p>
            <a:r>
              <a:rPr lang="en-US" dirty="0"/>
              <a:t>Phases of Compiler — GeeksforGeeks, detailed explanation of compiler phases. 
Compiler Design Unit 1 &amp; 2 — Academic PDF with compiler phase descriptions. 
Karpagam Academy of Higher Education
Phases of a Compiler — Comprehensive overview from Anna University notes. 
CSEIT Exam Preparation</a:t>
            </a:r>
          </a:p>
        </p:txBody>
      </p:sp>
    </p:spTree>
    <p:extLst>
      <p:ext uri="{BB962C8B-B14F-4D97-AF65-F5344CB8AC3E}">
        <p14:creationId xmlns:p14="http://schemas.microsoft.com/office/powerpoint/2010/main" val="708362715"/>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Frame</vt:lpstr>
      <vt:lpstr>Main Phases of a Compiler</vt:lpstr>
      <vt:lpstr>Introduction</vt:lpstr>
      <vt:lpstr>Compiler Overview</vt:lpstr>
      <vt:lpstr>Diagram </vt:lpstr>
      <vt:lpstr>1.Lexical Analysis (Scanning)</vt:lpstr>
      <vt:lpstr>2. Syntax Analysis (Parsing)</vt:lpstr>
      <vt:lpstr>3. Semantic Analysis</vt:lpstr>
      <vt:lpstr>4. Intermediate Code Generation</vt:lpstr>
      <vt:lpstr>Code Optimization</vt:lpstr>
      <vt:lpstr>6. Code Generation</vt:lpstr>
      <vt:lpstr>Compilation Workflow </vt:lpstr>
      <vt:lpstr>Realife applications</vt:lpstr>
      <vt:lpstr>Conclusion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Phases of a Compiler</dc:title>
  <dc:creator>Betelehem Kenaw</dc:creator>
  <cp:lastModifiedBy>Betelehem Kenaw</cp:lastModifiedBy>
  <cp:revision>6</cp:revision>
  <dcterms:created xsi:type="dcterms:W3CDTF">2026-01-05T04:31:11Z</dcterms:created>
  <dcterms:modified xsi:type="dcterms:W3CDTF">2026-01-05T05:09:54Z</dcterms:modified>
</cp:coreProperties>
</file>